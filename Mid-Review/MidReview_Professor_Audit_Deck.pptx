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Weather-Driven Electricity Price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AI for Energy Markets | Foundation Project 1 - Mid Review</a:t>
            </a:r>
          </a:p>
          <a:p>
            <a:r>
              <a:t>Academic Auditor: [Professor Name] | Lead: Babita Kiron Vedantam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Rationale: 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Problem: Inefficiency in Indian Day-Ahead Market (DAM) due to high-volatility price spikes.</a:t>
            </a:r>
          </a:p>
          <a:p>
            <a:pPr/>
            <a:r>
              <a:t>Primary Objective: Development of a forecast-to-trade pipeline for 15-minute granularity Market Clearing Prices (MCP).</a:t>
            </a:r>
          </a:p>
          <a:p>
            <a:pPr/>
            <a:r>
              <a:t>Economic Metrics: Target Sharpe Ratio &gt; 1.5 and an Annualized ROI &gt; 15%.</a:t>
            </a:r>
          </a:p>
          <a:p>
            <a:pPr/>
            <a:r>
              <a:t>Technical Threshold: MAPE &lt; 10% on highly volatile peak-load intervals.</a:t>
            </a:r>
          </a:p>
          <a:p>
            <a:pPr/>
            <a:r>
              <a:t>Strategic Impact: Reduction of financial risk for portfolio managers via physics-informed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Methodology: Adherence to CRISP-ML(Q)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Quality-First Lifecycle: Ensuring long-term reliability of mission-critical AI.</a:t>
            </a:r>
          </a:p>
          <a:p>
            <a:pPr/>
            <a:r>
              <a:t>Phases Integrated:</a:t>
            </a:r>
          </a:p>
          <a:p>
            <a:pPr lvl="1"/>
            <a:r>
              <a:t>Domain Understanding: Mapping Merit-Order economics to price formation.</a:t>
            </a:r>
          </a:p>
          <a:p>
            <a:pPr lvl="1"/>
            <a:r>
              <a:t>Governed Prep: Data lineage via timestamped versioning.</a:t>
            </a:r>
          </a:p>
          <a:p>
            <a:pPr lvl="1"/>
            <a:r>
              <a:t>Quality Assurance: Reproducibility protocols (Method &amp; Result).</a:t>
            </a:r>
          </a:p>
          <a:p>
            <a:pPr lvl="1"/>
            <a:r>
              <a:t>Production Monitoring: Statistical drift &amp; hardware health metrics.</a:t>
            </a:r>
          </a:p>
          <a:p>
            <a:pPr/>
            <a:r>
              <a:t>Compliance: Fully audited against expanded standard criteria.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Understanding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Granularity: Standardized 15-minute block buckets (96 blocks per Indian trading day).</a:t>
            </a:r>
          </a:p>
          <a:p>
            <a:pPr/>
            <a:r>
              <a:t>Multi-Hub Weather Indices: Real-world data from Bhadla (Solar), Muppandal (Wind), and NCR (Demand).</a:t>
            </a:r>
          </a:p>
          <a:p>
            <a:pPr/>
            <a:r>
              <a:t>Data Verification: Cross-referencing IEX Market Reports with POSOCO (Grid-India) logs.</a:t>
            </a:r>
          </a:p>
          <a:p>
            <a:pPr/>
            <a:r>
              <a:t>Governance Logic: Automatic schema validation &amp; sensor-error imputation (Time-based interpolation).</a:t>
            </a:r>
          </a:p>
          <a:p>
            <a:pPr/>
            <a:r>
              <a:t>Lineage: Robust version control for every transformation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Innovation: Physics-Informed Merit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Market Dynamics Modeling: Constructing the 'Zero-Fuel' Supply Horizon.</a:t>
            </a:r>
          </a:p>
          <a:p>
            <a:pPr/>
            <a:r>
              <a:t>Economic Logic: MCP is the marginal cost of the last dispatched generator (Renewables → Nuclear → Coal → Gas).</a:t>
            </a:r>
          </a:p>
          <a:p>
            <a:pPr/>
            <a:r>
              <a:t>The Shift: Weather events (solar irradiance/wind speed) shift the supply curve in real-time.</a:t>
            </a:r>
          </a:p>
          <a:p>
            <a:pPr/>
            <a:r>
              <a:t>Predictive Edge: Using Merit Order variables instead of pure historical lags significantly reduces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 Architecture: Scalable Ensemble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Unified Pipeline: Collector → Preprocessor → Feature Builder → Inference Layer.</a:t>
            </a:r>
          </a:p>
          <a:p>
            <a:pPr/>
            <a:r>
              <a:t>Algorithmic Stack:</a:t>
            </a:r>
          </a:p>
          <a:p>
            <a:pPr lvl="1"/>
            <a:r>
              <a:t>Baseline: Linear Regression for interpretability benchmarking.</a:t>
            </a:r>
          </a:p>
          <a:p>
            <a:pPr lvl="1"/>
            <a:r>
              <a:t>Advanced: XGBoost, LightGBM, and CatBoost Ensembles.</a:t>
            </a:r>
          </a:p>
          <a:p>
            <a:pPr/>
            <a:r>
              <a:t>Feature Density: 146 engineered features including cyclical temporal encoding &amp; interaction terms.</a:t>
            </a:r>
          </a:p>
          <a:p>
            <a:pPr/>
            <a:r>
              <a:t>Optimization: Model artifacts compressed for low-latency production serving.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Evaluation: Beyond Technical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Primary Benchmarks:</a:t>
            </a:r>
          </a:p>
          <a:p>
            <a:pPr lvl="1"/>
            <a:r>
              <a:t>Technical: RMSE 0.047 | MAE 0.033 | MAPE 9%.</a:t>
            </a:r>
          </a:p>
          <a:p>
            <a:pPr lvl="1"/>
            <a:r>
              <a:t>Reproducibility: Seeded validation ensuring consistent results.</a:t>
            </a:r>
          </a:p>
          <a:p>
            <a:pPr/>
            <a:r>
              <a:t>Stress Testing: Robustness evaluation during simulated extreme weather heatwaves.</a:t>
            </a:r>
          </a:p>
          <a:p>
            <a:pPr/>
            <a:r>
              <a:t>Explainability: SHAP/Feature Importance utilized for 'Physically Interpretable' results.</a:t>
            </a:r>
          </a:p>
          <a:p>
            <a:pPr/>
            <a:r>
              <a:t>Bias Recovery: Evaluation of signalWin/Loss ratios in high-volatility spikes.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Deployment: Production-Ready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Architecture: Microservice-ready via FastAPI REST Endpoint.</a:t>
            </a:r>
          </a:p>
          <a:p>
            <a:pPr/>
            <a:r>
              <a:t>Performance: Under 100ms inference latency for real-time bidding.</a:t>
            </a:r>
          </a:p>
          <a:p>
            <a:pPr/>
            <a:r>
              <a:t>Reliability: Automatic fallback to baseline models during infrastructure anomalies.</a:t>
            </a:r>
          </a:p>
          <a:p>
            <a:pPr/>
            <a:r>
              <a:t>Operational Security: Adherence to energy grid data privacy and legal standards.</a:t>
            </a:r>
          </a:p>
          <a:p>
            <a:pPr/>
            <a:r>
              <a:t>Hosting: Optimized for CPU-heavy cloud compute instances (AWS/Azure).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Monitoring: Strategic Drift &amp;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Statistical Guardrails: Kolmogorov-Smirnov (KS) tests for feature distribution shifts.</a:t>
            </a:r>
          </a:p>
          <a:p>
            <a:pPr/>
            <a:r>
              <a:t>Drift Monitoring: Real-time tracking of non-stationary Indian market demand shifts.</a:t>
            </a:r>
          </a:p>
          <a:p>
            <a:pPr/>
            <a:r>
              <a:t>Infrastructure Health: Monitoring hardware fatigue and API response times.</a:t>
            </a:r>
          </a:p>
          <a:p>
            <a:pPr/>
            <a:r>
              <a:t>Lifecycle Management: Automated retraining triggers linked to performance decay thresholds.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Deliverables: Operational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Production Ecosystem: Collector, Feature Builder, Training, and Server modules.</a:t>
            </a:r>
          </a:p>
          <a:p>
            <a:pPr/>
            <a:r>
              <a:t>Documentation: Audited CRISP-ML(Q) Lifecycle Report &amp; Walkthrough.</a:t>
            </a:r>
          </a:p>
          <a:p>
            <a:pPr/>
            <a:r>
              <a:t>Market Assets: High-fidelity processed datasets with 96-block daily granularity.</a:t>
            </a:r>
          </a:p>
          <a:p>
            <a:pPr/>
            <a:r>
              <a:t>Governance: YAML-based configuration registry for all model hyper-parameters.</a:t>
            </a:r>
          </a:p>
          <a:p>
            <a:pPr/>
            <a:r>
              <a:t>API Ready: Fully documented REST end-points for external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Status &amp; Future Trajectory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Current Phase: Mid-Review Audit | Integration Complete.</a:t>
            </a:r>
          </a:p>
          <a:p>
            <a:pPr/>
            <a:r>
              <a:t>Milestones Achieved: Real Data Ingestion, 15-min Refactoring, API Setup.</a:t>
            </a:r>
          </a:p>
          <a:p>
            <a:pPr/>
            <a:r>
              <a:t>Upcoming Roadmap:</a:t>
            </a:r>
          </a:p>
          <a:p>
            <a:pPr lvl="1"/>
            <a:r>
              <a:t>Phase 4: Real-time scraping from POSOCO/Grid-India logs.</a:t>
            </a:r>
          </a:p>
          <a:p>
            <a:pPr lvl="1"/>
            <a:r>
              <a:t>Phase 5: Refinement of trading position sizing with transaction costs.</a:t>
            </a:r>
          </a:p>
          <a:p>
            <a:pPr lvl="1"/>
            <a:r>
              <a:t>Final Review: February 24,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Synthesis &amp; Strategic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Conclusion: The project demonstrates a robust, physics-informed AI transition from experimental code to enterprise-grade forecasting.</a:t>
            </a:r>
          </a:p>
          <a:p>
            <a:pPr/>
            <a:r>
              <a:t>Key Differentiator: Blending Merit Order economics with high-performance gradient boosting.</a:t>
            </a:r>
          </a:p>
          <a:p>
            <a:pPr/>
            <a:r>
              <a:t>Auditor Feedback &amp; Discussion.</a:t>
            </a:r>
          </a:p>
          <a:p>
            <a:pP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